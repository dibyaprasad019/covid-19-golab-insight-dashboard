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 id="258" r:id="rId3"/>
    <p:sldId id="259" r:id="rId4"/>
    <p:sldId id="260" r:id="rId5"/>
    <p:sldId id="261" r:id="rId6"/>
    <p:sldId id="262" r:id="rId7"/>
    <p:sldId id="267" r:id="rId8"/>
    <p:sldId id="268" r:id="rId9"/>
    <p:sldId id="271" r:id="rId10"/>
    <p:sldId id="263" r:id="rId11"/>
    <p:sldId id="264" r:id="rId12"/>
    <p:sldId id="265" r:id="rId13"/>
    <p:sldId id="266"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EFB320-C637-4350-84A2-0EA04132CC2B}" type="datetimeFigureOut">
              <a:rPr lang="en-IN" smtClean="0"/>
              <a:t>30-06-2025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C6879D-34E3-4D16-8D0B-0690D8A9A1C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1944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EFB320-C637-4350-84A2-0EA04132CC2B}" type="datetimeFigureOut">
              <a:rPr lang="en-IN" smtClean="0"/>
              <a:t>30-06-2025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C6879D-34E3-4D16-8D0B-0690D8A9A1C2}" type="slidenum">
              <a:rPr lang="en-IN" smtClean="0"/>
              <a:t>‹#›</a:t>
            </a:fld>
            <a:endParaRPr lang="en-IN"/>
          </a:p>
        </p:txBody>
      </p:sp>
    </p:spTree>
    <p:extLst>
      <p:ext uri="{BB962C8B-B14F-4D97-AF65-F5344CB8AC3E}">
        <p14:creationId xmlns:p14="http://schemas.microsoft.com/office/powerpoint/2010/main" val="2195408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EFB320-C637-4350-84A2-0EA04132CC2B}" type="datetimeFigureOut">
              <a:rPr lang="en-IN" smtClean="0"/>
              <a:t>30-06-2025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C6879D-34E3-4D16-8D0B-0690D8A9A1C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001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EFB320-C637-4350-84A2-0EA04132CC2B}" type="datetimeFigureOut">
              <a:rPr lang="en-IN" smtClean="0"/>
              <a:t>30-06-2025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C6879D-34E3-4D16-8D0B-0690D8A9A1C2}" type="slidenum">
              <a:rPr lang="en-IN" smtClean="0"/>
              <a:t>‹#›</a:t>
            </a:fld>
            <a:endParaRPr lang="en-IN"/>
          </a:p>
        </p:txBody>
      </p:sp>
    </p:spTree>
    <p:extLst>
      <p:ext uri="{BB962C8B-B14F-4D97-AF65-F5344CB8AC3E}">
        <p14:creationId xmlns:p14="http://schemas.microsoft.com/office/powerpoint/2010/main" val="636108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EFB320-C637-4350-84A2-0EA04132CC2B}" type="datetimeFigureOut">
              <a:rPr lang="en-IN" smtClean="0"/>
              <a:t>30-06-2025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C6879D-34E3-4D16-8D0B-0690D8A9A1C2}" type="slidenum">
              <a:rPr lang="en-IN" smtClean="0"/>
              <a:t>‹#›</a:t>
            </a:fld>
            <a:endParaRPr lang="en-IN"/>
          </a:p>
        </p:txBody>
      </p:sp>
    </p:spTree>
    <p:extLst>
      <p:ext uri="{BB962C8B-B14F-4D97-AF65-F5344CB8AC3E}">
        <p14:creationId xmlns:p14="http://schemas.microsoft.com/office/powerpoint/2010/main" val="467383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EFB320-C637-4350-84A2-0EA04132CC2B}" type="datetimeFigureOut">
              <a:rPr lang="en-IN" smtClean="0"/>
              <a:t>30-06-2025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C6879D-34E3-4D16-8D0B-0690D8A9A1C2}" type="slidenum">
              <a:rPr lang="en-IN" smtClean="0"/>
              <a:t>‹#›</a:t>
            </a:fld>
            <a:endParaRPr lang="en-IN"/>
          </a:p>
        </p:txBody>
      </p:sp>
    </p:spTree>
    <p:extLst>
      <p:ext uri="{BB962C8B-B14F-4D97-AF65-F5344CB8AC3E}">
        <p14:creationId xmlns:p14="http://schemas.microsoft.com/office/powerpoint/2010/main" val="46677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5EFB320-C637-4350-84A2-0EA04132CC2B}" type="datetimeFigureOut">
              <a:rPr lang="en-IN" smtClean="0"/>
              <a:t>30-06-2025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8CC6879D-34E3-4D16-8D0B-0690D8A9A1C2}" type="slidenum">
              <a:rPr lang="en-IN" smtClean="0"/>
              <a:t>‹#›</a:t>
            </a:fld>
            <a:endParaRPr lang="en-IN"/>
          </a:p>
        </p:txBody>
      </p:sp>
    </p:spTree>
    <p:extLst>
      <p:ext uri="{BB962C8B-B14F-4D97-AF65-F5344CB8AC3E}">
        <p14:creationId xmlns:p14="http://schemas.microsoft.com/office/powerpoint/2010/main" val="4158400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5EFB320-C637-4350-84A2-0EA04132CC2B}" type="datetimeFigureOut">
              <a:rPr lang="en-IN" smtClean="0"/>
              <a:t>30-06-2025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CC6879D-34E3-4D16-8D0B-0690D8A9A1C2}" type="slidenum">
              <a:rPr lang="en-IN" smtClean="0"/>
              <a:t>‹#›</a:t>
            </a:fld>
            <a:endParaRPr lang="en-IN"/>
          </a:p>
        </p:txBody>
      </p:sp>
    </p:spTree>
    <p:extLst>
      <p:ext uri="{BB962C8B-B14F-4D97-AF65-F5344CB8AC3E}">
        <p14:creationId xmlns:p14="http://schemas.microsoft.com/office/powerpoint/2010/main" val="3612310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EFB320-C637-4350-84A2-0EA04132CC2B}" type="datetimeFigureOut">
              <a:rPr lang="en-IN" smtClean="0"/>
              <a:t>30-06-2025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C6879D-34E3-4D16-8D0B-0690D8A9A1C2}" type="slidenum">
              <a:rPr lang="en-IN" smtClean="0"/>
              <a:t>‹#›</a:t>
            </a:fld>
            <a:endParaRPr lang="en-IN"/>
          </a:p>
        </p:txBody>
      </p:sp>
    </p:spTree>
    <p:extLst>
      <p:ext uri="{BB962C8B-B14F-4D97-AF65-F5344CB8AC3E}">
        <p14:creationId xmlns:p14="http://schemas.microsoft.com/office/powerpoint/2010/main" val="1610478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EFB320-C637-4350-84A2-0EA04132CC2B}" type="datetimeFigureOut">
              <a:rPr lang="en-IN" smtClean="0"/>
              <a:t>30-06-2025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C6879D-34E3-4D16-8D0B-0690D8A9A1C2}" type="slidenum">
              <a:rPr lang="en-IN" smtClean="0"/>
              <a:t>‹#›</a:t>
            </a:fld>
            <a:endParaRPr lang="en-IN"/>
          </a:p>
        </p:txBody>
      </p:sp>
    </p:spTree>
    <p:extLst>
      <p:ext uri="{BB962C8B-B14F-4D97-AF65-F5344CB8AC3E}">
        <p14:creationId xmlns:p14="http://schemas.microsoft.com/office/powerpoint/2010/main" val="2003804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EFB320-C637-4350-84A2-0EA04132CC2B}" type="datetimeFigureOut">
              <a:rPr lang="en-IN" smtClean="0"/>
              <a:t>30-06-2025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C6879D-34E3-4D16-8D0B-0690D8A9A1C2}" type="slidenum">
              <a:rPr lang="en-IN" smtClean="0"/>
              <a:t>‹#›</a:t>
            </a:fld>
            <a:endParaRPr lang="en-IN"/>
          </a:p>
        </p:txBody>
      </p:sp>
    </p:spTree>
    <p:extLst>
      <p:ext uri="{BB962C8B-B14F-4D97-AF65-F5344CB8AC3E}">
        <p14:creationId xmlns:p14="http://schemas.microsoft.com/office/powerpoint/2010/main" val="363701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5EFB320-C637-4350-84A2-0EA04132CC2B}" type="datetimeFigureOut">
              <a:rPr lang="en-IN" smtClean="0"/>
              <a:t>30-06-2025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CC6879D-34E3-4D16-8D0B-0690D8A9A1C2}"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66240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4C8BB1-5713-284C-89D6-57E0FC8D0377}"/>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446" b="-2446"/>
          <a:stretch>
            <a:fillRect/>
          </a:stretch>
        </p:blipFill>
        <p:spPr>
          <a:xfrm>
            <a:off x="-1" y="-1"/>
            <a:ext cx="12192001" cy="6491235"/>
          </a:xfrm>
          <a:prstGeom prst="rect">
            <a:avLst/>
          </a:prstGeom>
        </p:spPr>
      </p:pic>
      <p:pic>
        <p:nvPicPr>
          <p:cNvPr id="6" name="Picture 5">
            <a:extLst>
              <a:ext uri="{FF2B5EF4-FFF2-40B4-BE49-F238E27FC236}">
                <a16:creationId xmlns:a16="http://schemas.microsoft.com/office/drawing/2014/main" id="{84279096-DBF2-E2A1-EAC4-EEB21465A7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8663" y="255638"/>
            <a:ext cx="1754669" cy="1754669"/>
          </a:xfrm>
          <a:prstGeom prst="rect">
            <a:avLst/>
          </a:prstGeom>
        </p:spPr>
      </p:pic>
      <p:sp>
        <p:nvSpPr>
          <p:cNvPr id="2" name="TextBox 1">
            <a:extLst>
              <a:ext uri="{FF2B5EF4-FFF2-40B4-BE49-F238E27FC236}">
                <a16:creationId xmlns:a16="http://schemas.microsoft.com/office/drawing/2014/main" id="{F76A140F-DDB0-DF95-73ED-E809F6FB5678}"/>
              </a:ext>
            </a:extLst>
          </p:cNvPr>
          <p:cNvSpPr txBox="1"/>
          <p:nvPr/>
        </p:nvSpPr>
        <p:spPr>
          <a:xfrm>
            <a:off x="4635908" y="1881099"/>
            <a:ext cx="2920181" cy="698525"/>
          </a:xfrm>
          <a:prstGeom prst="rect">
            <a:avLst/>
          </a:prstGeom>
          <a:noFill/>
        </p:spPr>
        <p:txBody>
          <a:bodyPr wrap="square" rtlCol="0">
            <a:spAutoFit/>
          </a:bodyPr>
          <a:lstStyle/>
          <a:p>
            <a:pPr algn="ctr">
              <a:lnSpc>
                <a:spcPts val="5600"/>
              </a:lnSpc>
            </a:pPr>
            <a:r>
              <a:rPr lang="en-US" sz="2400" dirty="0">
                <a:latin typeface="Arial Rounded MT Bold" panose="020F0704030504030204" pitchFamily="34" charset="0"/>
              </a:rPr>
              <a:t>Presentation on</a:t>
            </a:r>
          </a:p>
        </p:txBody>
      </p:sp>
      <p:sp>
        <p:nvSpPr>
          <p:cNvPr id="3" name="TextBox 2">
            <a:extLst>
              <a:ext uri="{FF2B5EF4-FFF2-40B4-BE49-F238E27FC236}">
                <a16:creationId xmlns:a16="http://schemas.microsoft.com/office/drawing/2014/main" id="{4E587162-942E-6692-5F5D-63239888774C}"/>
              </a:ext>
            </a:extLst>
          </p:cNvPr>
          <p:cNvSpPr txBox="1"/>
          <p:nvPr/>
        </p:nvSpPr>
        <p:spPr>
          <a:xfrm>
            <a:off x="3286430" y="2657808"/>
            <a:ext cx="5619138" cy="1443729"/>
          </a:xfrm>
          <a:prstGeom prst="rect">
            <a:avLst/>
          </a:prstGeom>
          <a:noFill/>
        </p:spPr>
        <p:txBody>
          <a:bodyPr wrap="square" rtlCol="0">
            <a:spAutoFit/>
          </a:bodyPr>
          <a:lstStyle/>
          <a:p>
            <a:pPr lvl="0" algn="ctr" defTabSz="914400">
              <a:lnSpc>
                <a:spcPts val="5600"/>
              </a:lnSpc>
              <a:defRPr/>
            </a:pPr>
            <a:r>
              <a:rPr lang="en-US" sz="2800" b="1" dirty="0">
                <a:solidFill>
                  <a:schemeClr val="bg2">
                    <a:lumMod val="50000"/>
                  </a:schemeClr>
                </a:solidFill>
                <a:latin typeface="Arial Black" panose="020B0A04020102020204" pitchFamily="34" charset="0"/>
                <a:ea typeface="Barlow Bold" pitchFamily="34" charset="-122"/>
                <a:cs typeface="Barlow Bold" pitchFamily="34" charset="-120"/>
              </a:rPr>
              <a:t>COVID-19 Global Insight Dashboard</a:t>
            </a:r>
            <a:endParaRPr lang="en-US" sz="2800" dirty="0">
              <a:solidFill>
                <a:schemeClr val="bg2">
                  <a:lumMod val="50000"/>
                </a:schemeClr>
              </a:solidFill>
              <a:latin typeface="Arial Black" panose="020B0A04020102020204" pitchFamily="34" charset="0"/>
            </a:endParaRPr>
          </a:p>
        </p:txBody>
      </p:sp>
      <p:sp>
        <p:nvSpPr>
          <p:cNvPr id="5" name="TextBox 4">
            <a:extLst>
              <a:ext uri="{FF2B5EF4-FFF2-40B4-BE49-F238E27FC236}">
                <a16:creationId xmlns:a16="http://schemas.microsoft.com/office/drawing/2014/main" id="{6813B1B0-907F-F3DE-55E6-DADE8A035DCF}"/>
              </a:ext>
            </a:extLst>
          </p:cNvPr>
          <p:cNvSpPr txBox="1"/>
          <p:nvPr/>
        </p:nvSpPr>
        <p:spPr>
          <a:xfrm>
            <a:off x="1120877" y="3408752"/>
            <a:ext cx="2035277" cy="712183"/>
          </a:xfrm>
          <a:prstGeom prst="rect">
            <a:avLst/>
          </a:prstGeom>
          <a:noFill/>
        </p:spPr>
        <p:txBody>
          <a:bodyPr wrap="square">
            <a:spAutoFit/>
          </a:bodyPr>
          <a:lstStyle/>
          <a:p>
            <a:pPr marL="0" indent="0" algn="ctr">
              <a:lnSpc>
                <a:spcPts val="5600"/>
              </a:lnSpc>
              <a:buNone/>
            </a:pPr>
            <a:r>
              <a:rPr lang="en-US" sz="2400" b="1" dirty="0">
                <a:solidFill>
                  <a:srgbClr val="002060"/>
                </a:solidFill>
                <a:ea typeface="Barlow Bold" pitchFamily="34" charset="-122"/>
                <a:cs typeface="Barlow Bold" pitchFamily="34" charset="-120"/>
              </a:rPr>
              <a:t>Presented By:</a:t>
            </a:r>
          </a:p>
        </p:txBody>
      </p:sp>
      <p:sp>
        <p:nvSpPr>
          <p:cNvPr id="8" name="TextBox 7">
            <a:extLst>
              <a:ext uri="{FF2B5EF4-FFF2-40B4-BE49-F238E27FC236}">
                <a16:creationId xmlns:a16="http://schemas.microsoft.com/office/drawing/2014/main" id="{7690847F-EF40-9EB4-DA7D-4C3B36DC2928}"/>
              </a:ext>
            </a:extLst>
          </p:cNvPr>
          <p:cNvSpPr txBox="1"/>
          <p:nvPr/>
        </p:nvSpPr>
        <p:spPr>
          <a:xfrm>
            <a:off x="1120877" y="4394000"/>
            <a:ext cx="2733368" cy="1631216"/>
          </a:xfrm>
          <a:prstGeom prst="rect">
            <a:avLst/>
          </a:prstGeom>
          <a:noFill/>
        </p:spPr>
        <p:txBody>
          <a:bodyPr wrap="square" rtlCol="0">
            <a:spAutoFit/>
          </a:bodyPr>
          <a:lstStyle/>
          <a:p>
            <a:r>
              <a:rPr lang="en-US" sz="2000" b="1" dirty="0">
                <a:latin typeface="Arial Rounded MT Bold" panose="020F0704030504030204" pitchFamily="34" charset="0"/>
              </a:rPr>
              <a:t>Suryakant Barik</a:t>
            </a:r>
          </a:p>
          <a:p>
            <a:r>
              <a:rPr lang="en-US" sz="2000" b="1" dirty="0" err="1">
                <a:latin typeface="Arial Rounded MT Bold" panose="020F0704030504030204" pitchFamily="34" charset="0"/>
              </a:rPr>
              <a:t>Dibyaprasad</a:t>
            </a:r>
            <a:r>
              <a:rPr lang="en-US" sz="2000" b="1" dirty="0">
                <a:latin typeface="Arial Rounded MT Bold" panose="020F0704030504030204" pitchFamily="34" charset="0"/>
              </a:rPr>
              <a:t> Sahu</a:t>
            </a:r>
          </a:p>
          <a:p>
            <a:r>
              <a:rPr lang="en-US" sz="2000" b="1" dirty="0" err="1">
                <a:latin typeface="Arial Rounded MT Bold" panose="020F0704030504030204" pitchFamily="34" charset="0"/>
              </a:rPr>
              <a:t>Monalisha</a:t>
            </a:r>
            <a:r>
              <a:rPr lang="en-US" sz="2000" b="1" dirty="0">
                <a:latin typeface="Arial Rounded MT Bold" panose="020F0704030504030204" pitchFamily="34" charset="0"/>
              </a:rPr>
              <a:t> Sahoo</a:t>
            </a:r>
          </a:p>
          <a:p>
            <a:r>
              <a:rPr lang="en-US" sz="2000" b="1" dirty="0">
                <a:latin typeface="Arial Rounded MT Bold" panose="020F0704030504030204" pitchFamily="34" charset="0"/>
              </a:rPr>
              <a:t>Abhishek Panda</a:t>
            </a:r>
          </a:p>
          <a:p>
            <a:r>
              <a:rPr lang="en-US" sz="2000" b="1" dirty="0">
                <a:latin typeface="Arial Rounded MT Bold" panose="020F0704030504030204" pitchFamily="34" charset="0"/>
              </a:rPr>
              <a:t>Satyam Sahu</a:t>
            </a:r>
            <a:endParaRPr lang="en-IN" sz="2000" b="1" dirty="0">
              <a:latin typeface="Arial Rounded MT Bold" panose="020F0704030504030204" pitchFamily="34" charset="0"/>
            </a:endParaRPr>
          </a:p>
        </p:txBody>
      </p:sp>
      <p:sp>
        <p:nvSpPr>
          <p:cNvPr id="9" name="Minus Sign 8">
            <a:extLst>
              <a:ext uri="{FF2B5EF4-FFF2-40B4-BE49-F238E27FC236}">
                <a16:creationId xmlns:a16="http://schemas.microsoft.com/office/drawing/2014/main" id="{60CDC88C-3A7A-A319-C6AF-D9AACC0752BB}"/>
              </a:ext>
            </a:extLst>
          </p:cNvPr>
          <p:cNvSpPr/>
          <p:nvPr/>
        </p:nvSpPr>
        <p:spPr>
          <a:xfrm>
            <a:off x="370551" y="4179721"/>
            <a:ext cx="3535927" cy="141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56D9868A-74BA-173F-98D0-C740AB63B522}"/>
              </a:ext>
            </a:extLst>
          </p:cNvPr>
          <p:cNvSpPr txBox="1"/>
          <p:nvPr/>
        </p:nvSpPr>
        <p:spPr>
          <a:xfrm>
            <a:off x="8905569" y="3408751"/>
            <a:ext cx="2035277" cy="712183"/>
          </a:xfrm>
          <a:prstGeom prst="rect">
            <a:avLst/>
          </a:prstGeom>
          <a:noFill/>
        </p:spPr>
        <p:txBody>
          <a:bodyPr wrap="square">
            <a:spAutoFit/>
          </a:bodyPr>
          <a:lstStyle/>
          <a:p>
            <a:pPr marL="0" indent="0" algn="ctr">
              <a:lnSpc>
                <a:spcPts val="5600"/>
              </a:lnSpc>
              <a:buNone/>
            </a:pPr>
            <a:r>
              <a:rPr lang="en-US" sz="2400" b="1" dirty="0">
                <a:solidFill>
                  <a:srgbClr val="002060"/>
                </a:solidFill>
                <a:ea typeface="Barlow Bold" pitchFamily="34" charset="-122"/>
                <a:cs typeface="Barlow Bold" pitchFamily="34" charset="-120"/>
              </a:rPr>
              <a:t>Guided By:</a:t>
            </a:r>
          </a:p>
        </p:txBody>
      </p:sp>
      <p:sp>
        <p:nvSpPr>
          <p:cNvPr id="11" name="Minus Sign 10">
            <a:extLst>
              <a:ext uri="{FF2B5EF4-FFF2-40B4-BE49-F238E27FC236}">
                <a16:creationId xmlns:a16="http://schemas.microsoft.com/office/drawing/2014/main" id="{64C9633C-1742-9F94-F693-24EB1E8630B0}"/>
              </a:ext>
            </a:extLst>
          </p:cNvPr>
          <p:cNvSpPr/>
          <p:nvPr/>
        </p:nvSpPr>
        <p:spPr>
          <a:xfrm>
            <a:off x="8285522" y="4175211"/>
            <a:ext cx="3535927" cy="141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A5EA786-70CD-FAD8-3125-37C9A5D4EADD}"/>
              </a:ext>
            </a:extLst>
          </p:cNvPr>
          <p:cNvSpPr txBox="1"/>
          <p:nvPr/>
        </p:nvSpPr>
        <p:spPr>
          <a:xfrm>
            <a:off x="8834283" y="4394000"/>
            <a:ext cx="2733368" cy="400110"/>
          </a:xfrm>
          <a:prstGeom prst="rect">
            <a:avLst/>
          </a:prstGeom>
          <a:noFill/>
        </p:spPr>
        <p:txBody>
          <a:bodyPr wrap="square" rtlCol="0">
            <a:spAutoFit/>
          </a:bodyPr>
          <a:lstStyle/>
          <a:p>
            <a:r>
              <a:rPr lang="en-US" sz="2000" dirty="0">
                <a:latin typeface="Arial Rounded MT Bold" panose="020F0704030504030204" pitchFamily="34" charset="0"/>
              </a:rPr>
              <a:t>Miss. Gitanjali Digal</a:t>
            </a:r>
            <a:endParaRPr lang="en-IN" sz="2000" dirty="0">
              <a:latin typeface="Arial Rounded MT Bold" panose="020F0704030504030204" pitchFamily="34" charset="0"/>
            </a:endParaRPr>
          </a:p>
        </p:txBody>
      </p:sp>
    </p:spTree>
    <p:extLst>
      <p:ext uri="{BB962C8B-B14F-4D97-AF65-F5344CB8AC3E}">
        <p14:creationId xmlns:p14="http://schemas.microsoft.com/office/powerpoint/2010/main" val="2703080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02069-9E14-DE33-D7F0-831C2DD1CAFD}"/>
              </a:ext>
            </a:extLst>
          </p:cNvPr>
          <p:cNvSpPr txBox="1"/>
          <p:nvPr/>
        </p:nvSpPr>
        <p:spPr>
          <a:xfrm>
            <a:off x="403122" y="447142"/>
            <a:ext cx="4218039"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INTRODUCTION</a:t>
            </a:r>
            <a:endParaRPr lang="en-IN" sz="2400" dirty="0">
              <a:latin typeface="Arial Rounded MT Bold" panose="020F0704030504030204" pitchFamily="34" charset="0"/>
            </a:endParaRPr>
          </a:p>
        </p:txBody>
      </p:sp>
      <p:sp>
        <p:nvSpPr>
          <p:cNvPr id="4" name="TextBox 3">
            <a:extLst>
              <a:ext uri="{FF2B5EF4-FFF2-40B4-BE49-F238E27FC236}">
                <a16:creationId xmlns:a16="http://schemas.microsoft.com/office/drawing/2014/main" id="{A0D36047-98F0-D000-BB6D-629364E06A41}"/>
              </a:ext>
            </a:extLst>
          </p:cNvPr>
          <p:cNvSpPr txBox="1"/>
          <p:nvPr/>
        </p:nvSpPr>
        <p:spPr>
          <a:xfrm>
            <a:off x="304800" y="1002890"/>
            <a:ext cx="6243484" cy="4801314"/>
          </a:xfrm>
          <a:prstGeom prst="rect">
            <a:avLst/>
          </a:prstGeom>
          <a:noFill/>
        </p:spPr>
        <p:txBody>
          <a:bodyPr wrap="square" rtlCol="0">
            <a:spAutoFit/>
          </a:bodyPr>
          <a:lstStyle/>
          <a:p>
            <a:r>
              <a:rPr lang="en-US" dirty="0"/>
              <a:t>This project analyzes global COVID-19 data through three key sections:</a:t>
            </a:r>
          </a:p>
          <a:p>
            <a:endParaRPr lang="en-US" dirty="0"/>
          </a:p>
          <a:p>
            <a:pPr marL="285750" indent="-285750">
              <a:buFont typeface="Wingdings" panose="05000000000000000000" pitchFamily="2" charset="2"/>
              <a:buChar char="§"/>
            </a:pPr>
            <a:r>
              <a:rPr lang="en-US" b="1" dirty="0"/>
              <a:t>Country-wise Data</a:t>
            </a:r>
            <a:r>
              <a:rPr lang="en-US" dirty="0"/>
              <a:t>: Provides detailed statistics on confirmed cases, deaths, recoveries, and regional trends for each country.</a:t>
            </a:r>
          </a:p>
          <a:p>
            <a:endParaRPr lang="en-US" dirty="0"/>
          </a:p>
          <a:p>
            <a:pPr marL="285750" indent="-285750">
              <a:buFont typeface="Wingdings" panose="05000000000000000000" pitchFamily="2" charset="2"/>
              <a:buChar char="§"/>
            </a:pPr>
            <a:r>
              <a:rPr lang="en-US" b="1" dirty="0"/>
              <a:t>Global Analysis</a:t>
            </a:r>
            <a:r>
              <a:rPr lang="en-US" dirty="0"/>
              <a:t>: Summarizes worldwide totals, recovery and death rates, and compares regional and country-specific metrics.</a:t>
            </a:r>
          </a:p>
          <a:p>
            <a:endParaRPr lang="en-US" dirty="0"/>
          </a:p>
          <a:p>
            <a:pPr marL="285750" indent="-285750">
              <a:buFont typeface="Wingdings" panose="05000000000000000000" pitchFamily="2" charset="2"/>
              <a:buChar char="§"/>
            </a:pPr>
            <a:r>
              <a:rPr lang="en-US" b="1" dirty="0"/>
              <a:t>Dashboard</a:t>
            </a:r>
            <a:r>
              <a:rPr lang="en-US" dirty="0"/>
              <a:t>: Designed for visual representation of the data, though currently empty.</a:t>
            </a:r>
          </a:p>
          <a:p>
            <a:endParaRPr lang="en-US" dirty="0"/>
          </a:p>
          <a:p>
            <a:r>
              <a:rPr lang="en-US" dirty="0"/>
              <a:t>The aim is to offer clear insights into the spread and impact of COVID-19 across countries and regions.</a:t>
            </a:r>
          </a:p>
          <a:p>
            <a:endParaRPr lang="en-IN" dirty="0"/>
          </a:p>
        </p:txBody>
      </p:sp>
    </p:spTree>
    <p:extLst>
      <p:ext uri="{BB962C8B-B14F-4D97-AF65-F5344CB8AC3E}">
        <p14:creationId xmlns:p14="http://schemas.microsoft.com/office/powerpoint/2010/main" val="2812234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E033000-FBBF-3C68-DDC0-EC7FB1B4EE80}"/>
              </a:ext>
            </a:extLst>
          </p:cNvPr>
          <p:cNvSpPr txBox="1"/>
          <p:nvPr/>
        </p:nvSpPr>
        <p:spPr>
          <a:xfrm>
            <a:off x="178904" y="228600"/>
            <a:ext cx="437321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PROJECT OVERVIEW</a:t>
            </a:r>
            <a:endParaRPr lang="en-IN" sz="2400" dirty="0">
              <a:latin typeface="Arial Rounded MT Bold" panose="020F0704030504030204" pitchFamily="34" charset="0"/>
            </a:endParaRPr>
          </a:p>
        </p:txBody>
      </p:sp>
      <p:sp>
        <p:nvSpPr>
          <p:cNvPr id="4" name="TextBox 3">
            <a:extLst>
              <a:ext uri="{FF2B5EF4-FFF2-40B4-BE49-F238E27FC236}">
                <a16:creationId xmlns:a16="http://schemas.microsoft.com/office/drawing/2014/main" id="{8A06A0A0-05A8-03AA-9FD0-E2F40E0FE9E4}"/>
              </a:ext>
            </a:extLst>
          </p:cNvPr>
          <p:cNvSpPr txBox="1"/>
          <p:nvPr/>
        </p:nvSpPr>
        <p:spPr>
          <a:xfrm>
            <a:off x="377687" y="1037773"/>
            <a:ext cx="11459817" cy="369332"/>
          </a:xfrm>
          <a:prstGeom prst="rect">
            <a:avLst/>
          </a:prstGeom>
          <a:noFill/>
        </p:spPr>
        <p:txBody>
          <a:bodyPr wrap="square" rtlCol="0">
            <a:spAutoFit/>
          </a:bodyPr>
          <a:lstStyle/>
          <a:p>
            <a:pPr marL="285750" indent="-285750">
              <a:buFont typeface="Wingdings" panose="05000000000000000000" pitchFamily="2" charset="2"/>
              <a:buChar char="§"/>
            </a:pPr>
            <a:r>
              <a:rPr lang="en-US" b="1" dirty="0"/>
              <a:t>📈 Identify Key Trends</a:t>
            </a:r>
          </a:p>
        </p:txBody>
      </p:sp>
      <p:sp>
        <p:nvSpPr>
          <p:cNvPr id="5" name="TextBox 4">
            <a:extLst>
              <a:ext uri="{FF2B5EF4-FFF2-40B4-BE49-F238E27FC236}">
                <a16:creationId xmlns:a16="http://schemas.microsoft.com/office/drawing/2014/main" id="{9A76FBA8-DB5D-BF47-8CED-97CF7E662BB0}"/>
              </a:ext>
            </a:extLst>
          </p:cNvPr>
          <p:cNvSpPr txBox="1"/>
          <p:nvPr/>
        </p:nvSpPr>
        <p:spPr>
          <a:xfrm>
            <a:off x="765313" y="1500809"/>
            <a:ext cx="10038522" cy="646331"/>
          </a:xfrm>
          <a:prstGeom prst="rect">
            <a:avLst/>
          </a:prstGeom>
          <a:noFill/>
        </p:spPr>
        <p:txBody>
          <a:bodyPr wrap="square" rtlCol="0">
            <a:spAutoFit/>
          </a:bodyPr>
          <a:lstStyle/>
          <a:p>
            <a:r>
              <a:rPr lang="en-US" dirty="0"/>
              <a:t> Highlighted top affected countries based on confirmed, death, and recovery cases using heatmaps and bar charts.</a:t>
            </a:r>
            <a:endParaRPr lang="en-IN" dirty="0"/>
          </a:p>
        </p:txBody>
      </p:sp>
      <p:sp>
        <p:nvSpPr>
          <p:cNvPr id="6" name="TextBox 5">
            <a:extLst>
              <a:ext uri="{FF2B5EF4-FFF2-40B4-BE49-F238E27FC236}">
                <a16:creationId xmlns:a16="http://schemas.microsoft.com/office/drawing/2014/main" id="{1F8E1C46-0BA6-D6FF-6911-1DB15858DFB4}"/>
              </a:ext>
            </a:extLst>
          </p:cNvPr>
          <p:cNvSpPr txBox="1"/>
          <p:nvPr/>
        </p:nvSpPr>
        <p:spPr>
          <a:xfrm>
            <a:off x="377687" y="2164496"/>
            <a:ext cx="11459817" cy="369332"/>
          </a:xfrm>
          <a:prstGeom prst="rect">
            <a:avLst/>
          </a:prstGeom>
          <a:noFill/>
        </p:spPr>
        <p:txBody>
          <a:bodyPr wrap="square" rtlCol="0">
            <a:spAutoFit/>
          </a:bodyPr>
          <a:lstStyle/>
          <a:p>
            <a:pPr marL="285750" indent="-285750">
              <a:buFont typeface="Wingdings" panose="05000000000000000000" pitchFamily="2" charset="2"/>
              <a:buChar char="§"/>
            </a:pPr>
            <a:r>
              <a:rPr lang="en-US" b="1" dirty="0"/>
              <a:t>🗺 Visualize Impact</a:t>
            </a:r>
          </a:p>
        </p:txBody>
      </p:sp>
      <p:sp>
        <p:nvSpPr>
          <p:cNvPr id="7" name="TextBox 6">
            <a:extLst>
              <a:ext uri="{FF2B5EF4-FFF2-40B4-BE49-F238E27FC236}">
                <a16:creationId xmlns:a16="http://schemas.microsoft.com/office/drawing/2014/main" id="{292B728D-A1BD-D631-D59B-3B56CA62D9F3}"/>
              </a:ext>
            </a:extLst>
          </p:cNvPr>
          <p:cNvSpPr txBox="1"/>
          <p:nvPr/>
        </p:nvSpPr>
        <p:spPr>
          <a:xfrm>
            <a:off x="944217" y="2533827"/>
            <a:ext cx="9690653" cy="656633"/>
          </a:xfrm>
          <a:prstGeom prst="rect">
            <a:avLst/>
          </a:prstGeom>
          <a:noFill/>
        </p:spPr>
        <p:txBody>
          <a:bodyPr wrap="square" rtlCol="0">
            <a:spAutoFit/>
          </a:bodyPr>
          <a:lstStyle/>
          <a:p>
            <a:r>
              <a:rPr lang="en-US" dirty="0"/>
              <a:t>Created region-wise charts and WHO regional distributions to assess the spread and response across continents.</a:t>
            </a:r>
            <a:endParaRPr lang="en-IN" dirty="0"/>
          </a:p>
        </p:txBody>
      </p:sp>
      <p:sp>
        <p:nvSpPr>
          <p:cNvPr id="8" name="TextBox 7">
            <a:extLst>
              <a:ext uri="{FF2B5EF4-FFF2-40B4-BE49-F238E27FC236}">
                <a16:creationId xmlns:a16="http://schemas.microsoft.com/office/drawing/2014/main" id="{22472086-F951-80D7-7E2C-331C5C8B18DF}"/>
              </a:ext>
            </a:extLst>
          </p:cNvPr>
          <p:cNvSpPr txBox="1"/>
          <p:nvPr/>
        </p:nvSpPr>
        <p:spPr>
          <a:xfrm>
            <a:off x="377687" y="3291219"/>
            <a:ext cx="11459817" cy="369332"/>
          </a:xfrm>
          <a:prstGeom prst="rect">
            <a:avLst/>
          </a:prstGeom>
          <a:noFill/>
        </p:spPr>
        <p:txBody>
          <a:bodyPr wrap="square" rtlCol="0">
            <a:spAutoFit/>
          </a:bodyPr>
          <a:lstStyle/>
          <a:p>
            <a:pPr marL="285750" indent="-285750">
              <a:buFont typeface="Wingdings" panose="05000000000000000000" pitchFamily="2" charset="2"/>
              <a:buChar char="§"/>
            </a:pPr>
            <a:r>
              <a:rPr lang="en-US" b="1" dirty="0"/>
              <a:t>🤖 Predictive Modeling</a:t>
            </a:r>
          </a:p>
        </p:txBody>
      </p:sp>
      <p:sp>
        <p:nvSpPr>
          <p:cNvPr id="9" name="TextBox 8">
            <a:extLst>
              <a:ext uri="{FF2B5EF4-FFF2-40B4-BE49-F238E27FC236}">
                <a16:creationId xmlns:a16="http://schemas.microsoft.com/office/drawing/2014/main" id="{FE90760E-3525-4055-1B24-941C275EEB03}"/>
              </a:ext>
            </a:extLst>
          </p:cNvPr>
          <p:cNvSpPr txBox="1"/>
          <p:nvPr/>
        </p:nvSpPr>
        <p:spPr>
          <a:xfrm>
            <a:off x="944217" y="3761310"/>
            <a:ext cx="9690653" cy="369332"/>
          </a:xfrm>
          <a:prstGeom prst="rect">
            <a:avLst/>
          </a:prstGeom>
          <a:noFill/>
        </p:spPr>
        <p:txBody>
          <a:bodyPr wrap="square" rtlCol="0">
            <a:spAutoFit/>
          </a:bodyPr>
          <a:lstStyle/>
          <a:p>
            <a:r>
              <a:rPr lang="en-US" dirty="0"/>
              <a:t>Explored linear regression techniques to understand weekly case changes and forecast future trends.</a:t>
            </a:r>
            <a:endParaRPr lang="en-IN" dirty="0"/>
          </a:p>
        </p:txBody>
      </p:sp>
      <p:sp>
        <p:nvSpPr>
          <p:cNvPr id="10" name="TextBox 9">
            <a:extLst>
              <a:ext uri="{FF2B5EF4-FFF2-40B4-BE49-F238E27FC236}">
                <a16:creationId xmlns:a16="http://schemas.microsoft.com/office/drawing/2014/main" id="{14898659-AB63-F468-B33B-030435A1F2FF}"/>
              </a:ext>
            </a:extLst>
          </p:cNvPr>
          <p:cNvSpPr txBox="1"/>
          <p:nvPr/>
        </p:nvSpPr>
        <p:spPr>
          <a:xfrm>
            <a:off x="377687" y="4233276"/>
            <a:ext cx="11459817" cy="369332"/>
          </a:xfrm>
          <a:prstGeom prst="rect">
            <a:avLst/>
          </a:prstGeom>
          <a:noFill/>
        </p:spPr>
        <p:txBody>
          <a:bodyPr wrap="square" rtlCol="0">
            <a:spAutoFit/>
          </a:bodyPr>
          <a:lstStyle/>
          <a:p>
            <a:pPr marL="285750" indent="-285750">
              <a:buFont typeface="Wingdings" panose="05000000000000000000" pitchFamily="2" charset="2"/>
              <a:buChar char="§"/>
            </a:pPr>
            <a:r>
              <a:rPr lang="en-US" b="1" dirty="0"/>
              <a:t>💡 Actionable Insights</a:t>
            </a:r>
          </a:p>
        </p:txBody>
      </p:sp>
      <p:sp>
        <p:nvSpPr>
          <p:cNvPr id="11" name="TextBox 10">
            <a:extLst>
              <a:ext uri="{FF2B5EF4-FFF2-40B4-BE49-F238E27FC236}">
                <a16:creationId xmlns:a16="http://schemas.microsoft.com/office/drawing/2014/main" id="{59B5F23C-AFA7-2CF6-DB16-90EB4C3D7E96}"/>
              </a:ext>
            </a:extLst>
          </p:cNvPr>
          <p:cNvSpPr txBox="1"/>
          <p:nvPr/>
        </p:nvSpPr>
        <p:spPr>
          <a:xfrm>
            <a:off x="939247" y="4703367"/>
            <a:ext cx="9690653" cy="646331"/>
          </a:xfrm>
          <a:prstGeom prst="rect">
            <a:avLst/>
          </a:prstGeom>
          <a:noFill/>
        </p:spPr>
        <p:txBody>
          <a:bodyPr wrap="square" rtlCol="0">
            <a:spAutoFit/>
          </a:bodyPr>
          <a:lstStyle/>
          <a:p>
            <a:r>
              <a:rPr lang="en-US" dirty="0"/>
              <a:t>Delivered visual insights through dashboards and graphs for better public health understanding and decisions.</a:t>
            </a:r>
            <a:endParaRPr lang="en-IN" dirty="0"/>
          </a:p>
        </p:txBody>
      </p:sp>
    </p:spTree>
    <p:extLst>
      <p:ext uri="{BB962C8B-B14F-4D97-AF65-F5344CB8AC3E}">
        <p14:creationId xmlns:p14="http://schemas.microsoft.com/office/powerpoint/2010/main" val="2276987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5BFAFB-43D0-E9C9-2D4B-EBF2CB91E0A2}"/>
              </a:ext>
            </a:extLst>
          </p:cNvPr>
          <p:cNvSpPr txBox="1"/>
          <p:nvPr/>
        </p:nvSpPr>
        <p:spPr>
          <a:xfrm>
            <a:off x="178904" y="228600"/>
            <a:ext cx="437321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PROJECT DESCRIPTION</a:t>
            </a:r>
            <a:endParaRPr lang="en-IN" sz="2400" dirty="0">
              <a:latin typeface="Arial Rounded MT Bold" panose="020F0704030504030204" pitchFamily="34" charset="0"/>
            </a:endParaRPr>
          </a:p>
        </p:txBody>
      </p:sp>
      <p:sp>
        <p:nvSpPr>
          <p:cNvPr id="3" name="TextBox 2">
            <a:extLst>
              <a:ext uri="{FF2B5EF4-FFF2-40B4-BE49-F238E27FC236}">
                <a16:creationId xmlns:a16="http://schemas.microsoft.com/office/drawing/2014/main" id="{DB5DDCA0-767A-1DBC-C14F-B878EAC4DDF7}"/>
              </a:ext>
            </a:extLst>
          </p:cNvPr>
          <p:cNvSpPr txBox="1"/>
          <p:nvPr/>
        </p:nvSpPr>
        <p:spPr>
          <a:xfrm>
            <a:off x="516835" y="805070"/>
            <a:ext cx="10324043" cy="923330"/>
          </a:xfrm>
          <a:prstGeom prst="rect">
            <a:avLst/>
          </a:prstGeom>
          <a:noFill/>
        </p:spPr>
        <p:txBody>
          <a:bodyPr wrap="square" rtlCol="0">
            <a:spAutoFit/>
          </a:bodyPr>
          <a:lstStyle/>
          <a:p>
            <a:r>
              <a:rPr lang="en-US" dirty="0"/>
              <a:t>This presentation provides a data-driven overview of the global COVID-19 situation. It includes country-specific case statistics, global trends in recovery and mortality, and comparative regional analysis. The goal is to highlight the pandemic's impact through clear, concise insights supported by reliable data.</a:t>
            </a:r>
            <a:endParaRPr lang="en-IN" dirty="0"/>
          </a:p>
        </p:txBody>
      </p:sp>
      <p:pic>
        <p:nvPicPr>
          <p:cNvPr id="4" name="Picture 3">
            <a:extLst>
              <a:ext uri="{FF2B5EF4-FFF2-40B4-BE49-F238E27FC236}">
                <a16:creationId xmlns:a16="http://schemas.microsoft.com/office/drawing/2014/main" id="{0D965A5F-EDA4-1305-ED59-D3B94EB5A92A}"/>
              </a:ext>
            </a:extLst>
          </p:cNvPr>
          <p:cNvPicPr>
            <a:picLocks noChangeAspect="1"/>
          </p:cNvPicPr>
          <p:nvPr/>
        </p:nvPicPr>
        <p:blipFill>
          <a:blip r:embed="rId2"/>
          <a:stretch>
            <a:fillRect/>
          </a:stretch>
        </p:blipFill>
        <p:spPr>
          <a:xfrm>
            <a:off x="634892" y="2352821"/>
            <a:ext cx="10205986" cy="35808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8677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4CB0D2-6C62-05D3-FBAC-EC7E18B663AD}"/>
              </a:ext>
            </a:extLst>
          </p:cNvPr>
          <p:cNvSpPr txBox="1"/>
          <p:nvPr/>
        </p:nvSpPr>
        <p:spPr>
          <a:xfrm>
            <a:off x="178904" y="228600"/>
            <a:ext cx="437321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PROBLEM STATEMENT</a:t>
            </a:r>
            <a:endParaRPr lang="en-IN" sz="2400" dirty="0">
              <a:latin typeface="Arial Rounded MT Bold" panose="020F0704030504030204" pitchFamily="34" charset="0"/>
            </a:endParaRPr>
          </a:p>
        </p:txBody>
      </p:sp>
      <p:sp>
        <p:nvSpPr>
          <p:cNvPr id="3" name="TextBox 2">
            <a:extLst>
              <a:ext uri="{FF2B5EF4-FFF2-40B4-BE49-F238E27FC236}">
                <a16:creationId xmlns:a16="http://schemas.microsoft.com/office/drawing/2014/main" id="{F69B9C52-4477-3942-E126-54CFFE121911}"/>
              </a:ext>
            </a:extLst>
          </p:cNvPr>
          <p:cNvSpPr txBox="1"/>
          <p:nvPr/>
        </p:nvSpPr>
        <p:spPr>
          <a:xfrm>
            <a:off x="673847" y="1240406"/>
            <a:ext cx="11231217"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t>The COVID-19 pandemic has had a profound global impact, but understanding its spread and severity across different countries and regions remains complex. Inconsistent data reporting, varying healthcare responses, and diverse population dynamics create challenges in drawing meaningful comparisons.</a:t>
            </a:r>
            <a:endParaRPr lang="en-IN" dirty="0"/>
          </a:p>
        </p:txBody>
      </p:sp>
      <p:sp>
        <p:nvSpPr>
          <p:cNvPr id="4" name="Text 3">
            <a:extLst>
              <a:ext uri="{FF2B5EF4-FFF2-40B4-BE49-F238E27FC236}">
                <a16:creationId xmlns:a16="http://schemas.microsoft.com/office/drawing/2014/main" id="{68746D74-ADE1-B0C3-6211-280BD2D49FC8}"/>
              </a:ext>
            </a:extLst>
          </p:cNvPr>
          <p:cNvSpPr/>
          <p:nvPr/>
        </p:nvSpPr>
        <p:spPr>
          <a:xfrm>
            <a:off x="673847" y="3693065"/>
            <a:ext cx="10944996" cy="1386840"/>
          </a:xfrm>
          <a:prstGeom prst="rect">
            <a:avLst/>
          </a:prstGeom>
          <a:noFill/>
          <a:ln/>
        </p:spPr>
        <p:txBody>
          <a:bodyPr wrap="square" lIns="0" tIns="0" rIns="0" bIns="0" rtlCol="0" anchor="t"/>
          <a:lstStyle/>
          <a:p>
            <a:pPr marL="285750" indent="-285750" algn="l">
              <a:lnSpc>
                <a:spcPts val="2700"/>
              </a:lnSpc>
              <a:buFont typeface="Wingdings" panose="05000000000000000000" pitchFamily="2" charset="2"/>
              <a:buChar char="§"/>
            </a:pPr>
            <a:r>
              <a:rPr lang="en-US" dirty="0">
                <a:solidFill>
                  <a:srgbClr val="272525"/>
                </a:solidFill>
                <a:ea typeface="Montserrat" pitchFamily="34" charset="-122"/>
                <a:cs typeface="Montserrat" pitchFamily="34" charset="-120"/>
              </a:rPr>
              <a:t>The goal is to empower decision-makers, researchers, and the public with clear trends, comparisons, and forecasts.</a:t>
            </a:r>
            <a:endParaRPr lang="en-US" dirty="0"/>
          </a:p>
        </p:txBody>
      </p:sp>
      <p:sp>
        <p:nvSpPr>
          <p:cNvPr id="6" name="TextBox 5">
            <a:extLst>
              <a:ext uri="{FF2B5EF4-FFF2-40B4-BE49-F238E27FC236}">
                <a16:creationId xmlns:a16="http://schemas.microsoft.com/office/drawing/2014/main" id="{3DB8FD4D-DC75-6562-08E8-FB8B2533CA93}"/>
              </a:ext>
            </a:extLst>
          </p:cNvPr>
          <p:cNvSpPr txBox="1"/>
          <p:nvPr/>
        </p:nvSpPr>
        <p:spPr>
          <a:xfrm>
            <a:off x="673847" y="2605235"/>
            <a:ext cx="10306879" cy="646331"/>
          </a:xfrm>
          <a:prstGeom prst="rect">
            <a:avLst/>
          </a:prstGeom>
          <a:noFill/>
        </p:spPr>
        <p:txBody>
          <a:bodyPr wrap="square" rtlCol="0">
            <a:spAutoFit/>
          </a:bodyPr>
          <a:lstStyle/>
          <a:p>
            <a:pPr marL="285750" indent="-285750">
              <a:buFont typeface="Wingdings" panose="05000000000000000000" pitchFamily="2" charset="2"/>
              <a:buChar char="§"/>
            </a:pPr>
            <a:r>
              <a:rPr lang="en-US" dirty="0"/>
              <a:t>This project aims to consolidate and analyze global COVID-19 data to provide a clear, comparative insight into the pandemic's progression and its regional effects.</a:t>
            </a:r>
            <a:endParaRPr lang="en-IN" dirty="0"/>
          </a:p>
        </p:txBody>
      </p:sp>
    </p:spTree>
    <p:extLst>
      <p:ext uri="{BB962C8B-B14F-4D97-AF65-F5344CB8AC3E}">
        <p14:creationId xmlns:p14="http://schemas.microsoft.com/office/powerpoint/2010/main" val="2650272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3ABBD0-E869-AC4F-F8C0-805804F580CA}"/>
              </a:ext>
            </a:extLst>
          </p:cNvPr>
          <p:cNvSpPr txBox="1"/>
          <p:nvPr/>
        </p:nvSpPr>
        <p:spPr>
          <a:xfrm>
            <a:off x="178903" y="228600"/>
            <a:ext cx="5595731"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METHODOLOGY &amp; APPROACH</a:t>
            </a:r>
            <a:endParaRPr lang="en-IN" sz="2400" dirty="0">
              <a:latin typeface="Arial Rounded MT Bold" panose="020F0704030504030204" pitchFamily="34" charset="0"/>
            </a:endParaRPr>
          </a:p>
        </p:txBody>
      </p:sp>
      <p:pic>
        <p:nvPicPr>
          <p:cNvPr id="3" name="Image 0" descr="preencoded.png">
            <a:extLst>
              <a:ext uri="{FF2B5EF4-FFF2-40B4-BE49-F238E27FC236}">
                <a16:creationId xmlns:a16="http://schemas.microsoft.com/office/drawing/2014/main" id="{99B65C12-23A1-5CEA-C0F9-37D01F8C2EAA}"/>
              </a:ext>
            </a:extLst>
          </p:cNvPr>
          <p:cNvPicPr>
            <a:picLocks noChangeAspect="1"/>
          </p:cNvPicPr>
          <p:nvPr/>
        </p:nvPicPr>
        <p:blipFill>
          <a:blip r:embed="rId2"/>
          <a:stretch>
            <a:fillRect/>
          </a:stretch>
        </p:blipFill>
        <p:spPr>
          <a:xfrm>
            <a:off x="705922" y="1035973"/>
            <a:ext cx="519726" cy="623659"/>
          </a:xfrm>
          <a:prstGeom prst="rect">
            <a:avLst/>
          </a:prstGeom>
        </p:spPr>
      </p:pic>
      <p:pic>
        <p:nvPicPr>
          <p:cNvPr id="4" name="Image 1" descr="preencoded.png">
            <a:extLst>
              <a:ext uri="{FF2B5EF4-FFF2-40B4-BE49-F238E27FC236}">
                <a16:creationId xmlns:a16="http://schemas.microsoft.com/office/drawing/2014/main" id="{C732CA00-F7B0-4E98-15BB-73CE48F94D56}"/>
              </a:ext>
            </a:extLst>
          </p:cNvPr>
          <p:cNvPicPr>
            <a:picLocks noChangeAspect="1"/>
          </p:cNvPicPr>
          <p:nvPr/>
        </p:nvPicPr>
        <p:blipFill>
          <a:blip r:embed="rId3"/>
          <a:stretch>
            <a:fillRect/>
          </a:stretch>
        </p:blipFill>
        <p:spPr>
          <a:xfrm>
            <a:off x="705922" y="2087640"/>
            <a:ext cx="519727" cy="623660"/>
          </a:xfrm>
          <a:prstGeom prst="rect">
            <a:avLst/>
          </a:prstGeom>
        </p:spPr>
      </p:pic>
      <p:pic>
        <p:nvPicPr>
          <p:cNvPr id="5" name="Image 2" descr="preencoded.png">
            <a:extLst>
              <a:ext uri="{FF2B5EF4-FFF2-40B4-BE49-F238E27FC236}">
                <a16:creationId xmlns:a16="http://schemas.microsoft.com/office/drawing/2014/main" id="{80D5B7A4-F13B-580D-29C4-1A26998E6985}"/>
              </a:ext>
            </a:extLst>
          </p:cNvPr>
          <p:cNvPicPr>
            <a:picLocks noChangeAspect="1"/>
          </p:cNvPicPr>
          <p:nvPr/>
        </p:nvPicPr>
        <p:blipFill>
          <a:blip r:embed="rId4"/>
          <a:stretch>
            <a:fillRect/>
          </a:stretch>
        </p:blipFill>
        <p:spPr>
          <a:xfrm>
            <a:off x="705921" y="3139308"/>
            <a:ext cx="519727" cy="623660"/>
          </a:xfrm>
          <a:prstGeom prst="rect">
            <a:avLst/>
          </a:prstGeom>
        </p:spPr>
      </p:pic>
      <p:pic>
        <p:nvPicPr>
          <p:cNvPr id="6" name="Image 3" descr="preencoded.png">
            <a:extLst>
              <a:ext uri="{FF2B5EF4-FFF2-40B4-BE49-F238E27FC236}">
                <a16:creationId xmlns:a16="http://schemas.microsoft.com/office/drawing/2014/main" id="{BE836ECC-3EA3-C54E-ED52-AD420D09509F}"/>
              </a:ext>
            </a:extLst>
          </p:cNvPr>
          <p:cNvPicPr>
            <a:picLocks noChangeAspect="1"/>
          </p:cNvPicPr>
          <p:nvPr/>
        </p:nvPicPr>
        <p:blipFill>
          <a:blip r:embed="rId5"/>
          <a:stretch>
            <a:fillRect/>
          </a:stretch>
        </p:blipFill>
        <p:spPr>
          <a:xfrm>
            <a:off x="690484" y="4190976"/>
            <a:ext cx="519727" cy="623660"/>
          </a:xfrm>
          <a:prstGeom prst="rect">
            <a:avLst/>
          </a:prstGeom>
        </p:spPr>
      </p:pic>
      <p:pic>
        <p:nvPicPr>
          <p:cNvPr id="7" name="Image 4" descr="preencoded.png">
            <a:extLst>
              <a:ext uri="{FF2B5EF4-FFF2-40B4-BE49-F238E27FC236}">
                <a16:creationId xmlns:a16="http://schemas.microsoft.com/office/drawing/2014/main" id="{2370C22C-2E2C-8A43-B5BB-45E51C3CE9A3}"/>
              </a:ext>
            </a:extLst>
          </p:cNvPr>
          <p:cNvPicPr>
            <a:picLocks noChangeAspect="1"/>
          </p:cNvPicPr>
          <p:nvPr/>
        </p:nvPicPr>
        <p:blipFill>
          <a:blip r:embed="rId6"/>
          <a:stretch>
            <a:fillRect/>
          </a:stretch>
        </p:blipFill>
        <p:spPr>
          <a:xfrm>
            <a:off x="690484" y="5242644"/>
            <a:ext cx="519727" cy="623660"/>
          </a:xfrm>
          <a:prstGeom prst="rect">
            <a:avLst/>
          </a:prstGeom>
        </p:spPr>
      </p:pic>
      <p:sp>
        <p:nvSpPr>
          <p:cNvPr id="8" name="TextBox 7">
            <a:extLst>
              <a:ext uri="{FF2B5EF4-FFF2-40B4-BE49-F238E27FC236}">
                <a16:creationId xmlns:a16="http://schemas.microsoft.com/office/drawing/2014/main" id="{AE0174DF-C0F0-8E04-2CD9-FB0DAAAFF9C1}"/>
              </a:ext>
            </a:extLst>
          </p:cNvPr>
          <p:cNvSpPr txBox="1"/>
          <p:nvPr/>
        </p:nvSpPr>
        <p:spPr>
          <a:xfrm>
            <a:off x="1210211" y="1035973"/>
            <a:ext cx="8806069" cy="646331"/>
          </a:xfrm>
          <a:prstGeom prst="rect">
            <a:avLst/>
          </a:prstGeom>
          <a:noFill/>
        </p:spPr>
        <p:txBody>
          <a:bodyPr wrap="square" rtlCol="0">
            <a:spAutoFit/>
          </a:bodyPr>
          <a:lstStyle/>
          <a:p>
            <a:r>
              <a:rPr lang="en-US" b="1" dirty="0"/>
              <a:t>Data Processing</a:t>
            </a:r>
          </a:p>
          <a:p>
            <a:r>
              <a:rPr lang="en-US" dirty="0"/>
              <a:t>Cleaning &amp; preparing data in Excel for accuracy.</a:t>
            </a:r>
            <a:endParaRPr lang="en-IN" dirty="0"/>
          </a:p>
        </p:txBody>
      </p:sp>
      <p:sp>
        <p:nvSpPr>
          <p:cNvPr id="9" name="TextBox 8">
            <a:extLst>
              <a:ext uri="{FF2B5EF4-FFF2-40B4-BE49-F238E27FC236}">
                <a16:creationId xmlns:a16="http://schemas.microsoft.com/office/drawing/2014/main" id="{6D76AF6C-3E68-7086-CEBD-F24A450564AA}"/>
              </a:ext>
            </a:extLst>
          </p:cNvPr>
          <p:cNvSpPr txBox="1"/>
          <p:nvPr/>
        </p:nvSpPr>
        <p:spPr>
          <a:xfrm>
            <a:off x="1371599" y="2028012"/>
            <a:ext cx="8806069" cy="646331"/>
          </a:xfrm>
          <a:prstGeom prst="rect">
            <a:avLst/>
          </a:prstGeom>
          <a:noFill/>
        </p:spPr>
        <p:txBody>
          <a:bodyPr wrap="square" rtlCol="0">
            <a:spAutoFit/>
          </a:bodyPr>
          <a:lstStyle/>
          <a:p>
            <a:r>
              <a:rPr lang="en-US" b="1" dirty="0"/>
              <a:t>Metric Derivation</a:t>
            </a:r>
          </a:p>
          <a:p>
            <a:r>
              <a:rPr lang="en-US" dirty="0"/>
              <a:t>Calculating key metrics like survival &amp; test-confirmed ratios.</a:t>
            </a:r>
            <a:endParaRPr lang="en-IN" dirty="0"/>
          </a:p>
        </p:txBody>
      </p:sp>
      <p:sp>
        <p:nvSpPr>
          <p:cNvPr id="10" name="TextBox 9">
            <a:extLst>
              <a:ext uri="{FF2B5EF4-FFF2-40B4-BE49-F238E27FC236}">
                <a16:creationId xmlns:a16="http://schemas.microsoft.com/office/drawing/2014/main" id="{47DE2C57-C0C2-2A00-5433-7AEFD4721477}"/>
              </a:ext>
            </a:extLst>
          </p:cNvPr>
          <p:cNvSpPr txBox="1"/>
          <p:nvPr/>
        </p:nvSpPr>
        <p:spPr>
          <a:xfrm>
            <a:off x="1371599" y="3020051"/>
            <a:ext cx="8806069" cy="646331"/>
          </a:xfrm>
          <a:prstGeom prst="rect">
            <a:avLst/>
          </a:prstGeom>
          <a:noFill/>
        </p:spPr>
        <p:txBody>
          <a:bodyPr wrap="square" rtlCol="0">
            <a:spAutoFit/>
          </a:bodyPr>
          <a:lstStyle/>
          <a:p>
            <a:r>
              <a:rPr lang="en-US" b="1" dirty="0"/>
              <a:t>Trend Analysis</a:t>
            </a:r>
          </a:p>
          <a:p>
            <a:r>
              <a:rPr lang="en-US" dirty="0"/>
              <a:t>Using Multiple Linear Regression(MLR) for trend identification.</a:t>
            </a:r>
            <a:endParaRPr lang="en-IN" dirty="0"/>
          </a:p>
        </p:txBody>
      </p:sp>
      <p:sp>
        <p:nvSpPr>
          <p:cNvPr id="11" name="TextBox 10">
            <a:extLst>
              <a:ext uri="{FF2B5EF4-FFF2-40B4-BE49-F238E27FC236}">
                <a16:creationId xmlns:a16="http://schemas.microsoft.com/office/drawing/2014/main" id="{F3760B0B-D33E-0488-B321-A476A3B35411}"/>
              </a:ext>
            </a:extLst>
          </p:cNvPr>
          <p:cNvSpPr txBox="1"/>
          <p:nvPr/>
        </p:nvSpPr>
        <p:spPr>
          <a:xfrm>
            <a:off x="1371598" y="4081664"/>
            <a:ext cx="8806069" cy="646331"/>
          </a:xfrm>
          <a:prstGeom prst="rect">
            <a:avLst/>
          </a:prstGeom>
          <a:noFill/>
        </p:spPr>
        <p:txBody>
          <a:bodyPr wrap="square" rtlCol="0">
            <a:spAutoFit/>
          </a:bodyPr>
          <a:lstStyle/>
          <a:p>
            <a:r>
              <a:rPr lang="en-US" b="1" dirty="0"/>
              <a:t>Visualizations</a:t>
            </a:r>
          </a:p>
          <a:p>
            <a:r>
              <a:rPr lang="en-US" dirty="0"/>
              <a:t>Creating line graphs, maps &amp; heatmaps in Tableau &amp; Excel.</a:t>
            </a:r>
            <a:endParaRPr lang="en-IN" dirty="0"/>
          </a:p>
        </p:txBody>
      </p:sp>
      <p:sp>
        <p:nvSpPr>
          <p:cNvPr id="12" name="TextBox 11">
            <a:extLst>
              <a:ext uri="{FF2B5EF4-FFF2-40B4-BE49-F238E27FC236}">
                <a16:creationId xmlns:a16="http://schemas.microsoft.com/office/drawing/2014/main" id="{A4939FD8-91CE-9977-3BBD-32531D6BF591}"/>
              </a:ext>
            </a:extLst>
          </p:cNvPr>
          <p:cNvSpPr txBox="1"/>
          <p:nvPr/>
        </p:nvSpPr>
        <p:spPr>
          <a:xfrm>
            <a:off x="1371598" y="5073703"/>
            <a:ext cx="8806069" cy="646331"/>
          </a:xfrm>
          <a:prstGeom prst="rect">
            <a:avLst/>
          </a:prstGeom>
          <a:noFill/>
        </p:spPr>
        <p:txBody>
          <a:bodyPr wrap="square" rtlCol="0">
            <a:spAutoFit/>
          </a:bodyPr>
          <a:lstStyle/>
          <a:p>
            <a:r>
              <a:rPr lang="en-US" b="1" dirty="0"/>
              <a:t>Data Processing</a:t>
            </a:r>
          </a:p>
          <a:p>
            <a:r>
              <a:rPr lang="en-US" dirty="0"/>
              <a:t>Cleaning &amp; preparing data in Excel for accuracy.</a:t>
            </a:r>
            <a:endParaRPr lang="en-IN" dirty="0"/>
          </a:p>
        </p:txBody>
      </p:sp>
      <p:sp>
        <p:nvSpPr>
          <p:cNvPr id="13" name="AutoShape 2" descr="Agile Methodology: A Creative Approach to Project Management">
            <a:extLst>
              <a:ext uri="{FF2B5EF4-FFF2-40B4-BE49-F238E27FC236}">
                <a16:creationId xmlns:a16="http://schemas.microsoft.com/office/drawing/2014/main" id="{628D6CAE-4AB1-B7F9-BF81-AE614B98B7D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AutoShape 4" descr="Agile Methodology: A Creative Approach to Project Management">
            <a:extLst>
              <a:ext uri="{FF2B5EF4-FFF2-40B4-BE49-F238E27FC236}">
                <a16:creationId xmlns:a16="http://schemas.microsoft.com/office/drawing/2014/main" id="{67CE49AE-F8D5-8B81-3C9F-3771C147B5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4" name="Picture 6" descr="Agile Methodology: A Creative Approach to Project Management">
            <a:extLst>
              <a:ext uri="{FF2B5EF4-FFF2-40B4-BE49-F238E27FC236}">
                <a16:creationId xmlns:a16="http://schemas.microsoft.com/office/drawing/2014/main" id="{CDF3CB16-9E3A-75EA-618C-1155D543C3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9087" y="1705658"/>
            <a:ext cx="381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497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D8A0BF-2358-0F1B-CC6C-50CDE8A04C69}"/>
              </a:ext>
            </a:extLst>
          </p:cNvPr>
          <p:cNvSpPr txBox="1"/>
          <p:nvPr/>
        </p:nvSpPr>
        <p:spPr>
          <a:xfrm>
            <a:off x="427382" y="248478"/>
            <a:ext cx="679637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OVERVIEW OF THE ML PROJECT</a:t>
            </a:r>
            <a:endParaRPr lang="en-IN" sz="2400" dirty="0">
              <a:latin typeface="Arial Rounded MT Bold" panose="020F0704030504030204" pitchFamily="34" charset="0"/>
            </a:endParaRPr>
          </a:p>
        </p:txBody>
      </p:sp>
      <p:pic>
        <p:nvPicPr>
          <p:cNvPr id="6" name="Picture 5">
            <a:extLst>
              <a:ext uri="{FF2B5EF4-FFF2-40B4-BE49-F238E27FC236}">
                <a16:creationId xmlns:a16="http://schemas.microsoft.com/office/drawing/2014/main" id="{38EE76A6-E948-9943-03A0-D6C4C9B423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5339" y="897577"/>
            <a:ext cx="9581322" cy="5062846"/>
          </a:xfrm>
          <a:prstGeom prst="rect">
            <a:avLst/>
          </a:prstGeom>
        </p:spPr>
      </p:pic>
    </p:spTree>
    <p:extLst>
      <p:ext uri="{BB962C8B-B14F-4D97-AF65-F5344CB8AC3E}">
        <p14:creationId xmlns:p14="http://schemas.microsoft.com/office/powerpoint/2010/main" val="335687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9BD615-4348-3BC4-8766-E730E9DFC200}"/>
              </a:ext>
            </a:extLst>
          </p:cNvPr>
          <p:cNvSpPr txBox="1"/>
          <p:nvPr/>
        </p:nvSpPr>
        <p:spPr>
          <a:xfrm>
            <a:off x="427382" y="248478"/>
            <a:ext cx="679637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EXPLANATION OF THE ML PROJECT</a:t>
            </a:r>
            <a:endParaRPr lang="en-IN" sz="2400" dirty="0">
              <a:latin typeface="Arial Rounded MT Bold" panose="020F0704030504030204" pitchFamily="34" charset="0"/>
            </a:endParaRPr>
          </a:p>
        </p:txBody>
      </p:sp>
      <p:sp>
        <p:nvSpPr>
          <p:cNvPr id="3" name="TextBox 2">
            <a:extLst>
              <a:ext uri="{FF2B5EF4-FFF2-40B4-BE49-F238E27FC236}">
                <a16:creationId xmlns:a16="http://schemas.microsoft.com/office/drawing/2014/main" id="{6297B3BC-6FFA-4CD7-8778-2347A0A07ABE}"/>
              </a:ext>
            </a:extLst>
          </p:cNvPr>
          <p:cNvSpPr txBox="1"/>
          <p:nvPr/>
        </p:nvSpPr>
        <p:spPr>
          <a:xfrm>
            <a:off x="526773" y="844825"/>
            <a:ext cx="11102009" cy="5078313"/>
          </a:xfrm>
          <a:prstGeom prst="rect">
            <a:avLst/>
          </a:prstGeom>
          <a:noFill/>
        </p:spPr>
        <p:txBody>
          <a:bodyPr wrap="square" rtlCol="0">
            <a:spAutoFit/>
          </a:bodyPr>
          <a:lstStyle/>
          <a:p>
            <a:pPr marL="285750" indent="-285750">
              <a:buFont typeface="Wingdings" panose="05000000000000000000" pitchFamily="2" charset="2"/>
              <a:buChar char="§"/>
            </a:pPr>
            <a:r>
              <a:rPr lang="en-US" b="1" dirty="0"/>
              <a:t>Pie Chart </a:t>
            </a:r>
          </a:p>
          <a:p>
            <a:pPr algn="just"/>
            <a:r>
              <a:rPr lang="en-US" dirty="0"/>
              <a:t> Country Distribution by WHO Region. </a:t>
            </a:r>
          </a:p>
          <a:p>
            <a:pPr marL="400050" indent="-400050" algn="just">
              <a:buFont typeface="+mj-lt"/>
              <a:buAutoNum type="romanUcPeriod"/>
            </a:pPr>
            <a:r>
              <a:rPr lang="en-US" dirty="0"/>
              <a:t>Why use it: A pie chart provides a quick view of how countries are grouped regionally under WHO.</a:t>
            </a:r>
          </a:p>
          <a:p>
            <a:pPr marL="400050" indent="-400050" algn="just">
              <a:buFont typeface="+mj-lt"/>
              <a:buAutoNum type="romanUcPeriod"/>
            </a:pPr>
            <a:r>
              <a:rPr lang="en-US" dirty="0"/>
              <a:t>What it tells us: This chart highlights which WHO regions contain the most member countries, offering perspective on geographical focus and global public health governance. </a:t>
            </a:r>
          </a:p>
          <a:p>
            <a:pPr marL="400050" indent="-400050" algn="just">
              <a:buFont typeface="+mj-lt"/>
              <a:buAutoNum type="romanUcPeriod"/>
            </a:pPr>
            <a:r>
              <a:rPr lang="en-US" dirty="0"/>
              <a:t>Insight: Regions like Africa and Europe have large shares of member nations, indicating areas where regional health coordination is crucial.</a:t>
            </a:r>
          </a:p>
          <a:p>
            <a:pPr algn="just"/>
            <a:endParaRPr lang="en-US" dirty="0"/>
          </a:p>
          <a:p>
            <a:pPr marL="285750" indent="-285750" algn="just">
              <a:buFont typeface="Wingdings" panose="05000000000000000000" pitchFamily="2" charset="2"/>
              <a:buChar char="§"/>
            </a:pPr>
            <a:r>
              <a:rPr lang="en-US" b="1" dirty="0"/>
              <a:t>Bar Chart</a:t>
            </a:r>
          </a:p>
          <a:p>
            <a:pPr algn="just"/>
            <a:r>
              <a:rPr lang="en-US" dirty="0"/>
              <a:t> Top 10 Countries by Recovered Cases.</a:t>
            </a:r>
          </a:p>
          <a:p>
            <a:pPr marL="400050" indent="-400050" algn="just">
              <a:buFont typeface="+mj-lt"/>
              <a:buAutoNum type="romanUcPeriod"/>
            </a:pPr>
            <a:r>
              <a:rPr lang="en-US" dirty="0"/>
              <a:t> Why use it: Recovery data indicates the efficiency and effectiveness of a country's healthcare and pandemic response.</a:t>
            </a:r>
          </a:p>
          <a:p>
            <a:pPr marL="400050" indent="-400050" algn="just">
              <a:buFont typeface="+mj-lt"/>
              <a:buAutoNum type="romanUcPeriod"/>
            </a:pPr>
            <a:r>
              <a:rPr lang="en-US" dirty="0"/>
              <a:t>What it tells us: This graph shows which countries managed to recover the most patients — possibly due to strong healthcare systems, mass testing, or early intervention.</a:t>
            </a:r>
          </a:p>
          <a:p>
            <a:pPr marL="400050" indent="-400050" algn="just">
              <a:buFont typeface="+mj-lt"/>
              <a:buAutoNum type="romanUcPeriod"/>
            </a:pPr>
            <a:r>
              <a:rPr lang="en-US" dirty="0"/>
              <a:t>Insight: Some countries appear both in high death and high recovery charts, revealing the dual burden of high case volume and effective treatment.</a:t>
            </a:r>
          </a:p>
          <a:p>
            <a:pPr algn="just"/>
            <a:endParaRPr lang="en-US" dirty="0"/>
          </a:p>
          <a:p>
            <a:pPr algn="just"/>
            <a:endParaRPr lang="en-IN" dirty="0"/>
          </a:p>
        </p:txBody>
      </p:sp>
    </p:spTree>
    <p:extLst>
      <p:ext uri="{BB962C8B-B14F-4D97-AF65-F5344CB8AC3E}">
        <p14:creationId xmlns:p14="http://schemas.microsoft.com/office/powerpoint/2010/main" val="2711228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8E27C1-77DE-5B75-B8C5-6461C3459F43}"/>
              </a:ext>
            </a:extLst>
          </p:cNvPr>
          <p:cNvSpPr txBox="1"/>
          <p:nvPr/>
        </p:nvSpPr>
        <p:spPr>
          <a:xfrm>
            <a:off x="427382" y="248478"/>
            <a:ext cx="679637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EXPLANATION OF THE ML PROJECT</a:t>
            </a:r>
            <a:endParaRPr lang="en-IN" sz="2400" dirty="0">
              <a:latin typeface="Arial Rounded MT Bold" panose="020F0704030504030204" pitchFamily="34" charset="0"/>
            </a:endParaRPr>
          </a:p>
        </p:txBody>
      </p:sp>
      <p:sp>
        <p:nvSpPr>
          <p:cNvPr id="3" name="TextBox 2">
            <a:extLst>
              <a:ext uri="{FF2B5EF4-FFF2-40B4-BE49-F238E27FC236}">
                <a16:creationId xmlns:a16="http://schemas.microsoft.com/office/drawing/2014/main" id="{E4A3BE23-A8BD-E8AC-F6C6-569FA39CB2F5}"/>
              </a:ext>
            </a:extLst>
          </p:cNvPr>
          <p:cNvSpPr txBox="1"/>
          <p:nvPr/>
        </p:nvSpPr>
        <p:spPr>
          <a:xfrm>
            <a:off x="569843" y="908925"/>
            <a:ext cx="11052313" cy="4524315"/>
          </a:xfrm>
          <a:prstGeom prst="rect">
            <a:avLst/>
          </a:prstGeom>
          <a:noFill/>
        </p:spPr>
        <p:txBody>
          <a:bodyPr wrap="square" rtlCol="0">
            <a:spAutoFit/>
          </a:bodyPr>
          <a:lstStyle/>
          <a:p>
            <a:pPr marL="285750" indent="-285750">
              <a:buFont typeface="Wingdings" panose="05000000000000000000" pitchFamily="2" charset="2"/>
              <a:buChar char="§"/>
            </a:pPr>
            <a:r>
              <a:rPr lang="en-US" b="1" dirty="0"/>
              <a:t>Bar Chart </a:t>
            </a:r>
          </a:p>
          <a:p>
            <a:r>
              <a:rPr lang="en-US" dirty="0"/>
              <a:t>Top 10 Countries by Deaths.</a:t>
            </a:r>
          </a:p>
          <a:p>
            <a:pPr marL="400050" indent="-400050">
              <a:buFont typeface="+mj-lt"/>
              <a:buAutoNum type="romanUcPeriod"/>
            </a:pPr>
            <a:r>
              <a:rPr lang="en-US" dirty="0"/>
              <a:t>Why use it: A horizontal bar chart clearly compares absolute death counts across countries.</a:t>
            </a:r>
          </a:p>
          <a:p>
            <a:pPr marL="400050" indent="-400050">
              <a:buFont typeface="+mj-lt"/>
              <a:buAutoNum type="romanUcPeriod"/>
            </a:pPr>
            <a:r>
              <a:rPr lang="en-US" dirty="0"/>
              <a:t>What it tells us: Countries like the USA, India, and Brazil have the highest number of reported COVID-19 deaths. This graph helps identify where the pandemic had the most severe human Cost.</a:t>
            </a:r>
          </a:p>
          <a:p>
            <a:pPr marL="400050" indent="-400050">
              <a:buFont typeface="+mj-lt"/>
              <a:buAutoNum type="romanUcPeriod"/>
            </a:pPr>
            <a:r>
              <a:rPr lang="en-US" dirty="0"/>
              <a:t>Insight: The large gap between top countries and others highlights healthcare strain, possible delays in intervention, or higher population vulnerability.</a:t>
            </a:r>
          </a:p>
          <a:p>
            <a:pPr marL="400050" indent="-400050">
              <a:buFont typeface="+mj-lt"/>
              <a:buAutoNum type="romanUcPeriod"/>
            </a:pPr>
            <a:endParaRPr lang="en-US" dirty="0"/>
          </a:p>
          <a:p>
            <a:pPr marL="285750" indent="-285750">
              <a:buFont typeface="Wingdings" panose="05000000000000000000" pitchFamily="2" charset="2"/>
              <a:buChar char="§"/>
            </a:pPr>
            <a:r>
              <a:rPr lang="en-US" b="1" dirty="0"/>
              <a:t>Heatmap</a:t>
            </a:r>
            <a:r>
              <a:rPr lang="en-US" dirty="0"/>
              <a:t> </a:t>
            </a:r>
          </a:p>
          <a:p>
            <a:r>
              <a:rPr lang="en-US" dirty="0"/>
              <a:t>COVID Metrics Across Top 10 Affected Countries.</a:t>
            </a:r>
          </a:p>
          <a:p>
            <a:pPr marL="400050" indent="-400050">
              <a:buFont typeface="+mj-lt"/>
              <a:buAutoNum type="romanUcPeriod"/>
            </a:pPr>
            <a:r>
              <a:rPr lang="en-US" dirty="0"/>
              <a:t>Why use it: A heatmap allows for quick visual comparison across multiple metrics (Confirmed, Deaths, Recovered, Active).</a:t>
            </a:r>
          </a:p>
          <a:p>
            <a:pPr marL="400050" indent="-400050">
              <a:buFont typeface="+mj-lt"/>
              <a:buAutoNum type="romanUcPeriod"/>
            </a:pPr>
            <a:r>
              <a:rPr lang="en-US" dirty="0"/>
              <a:t>What it tells us: The normalized heatmap shows relative intensity — for example, which countries have the highest ratio of active or recovered cases.</a:t>
            </a:r>
          </a:p>
          <a:p>
            <a:pPr marL="400050" indent="-400050">
              <a:buFont typeface="+mj-lt"/>
              <a:buAutoNum type="romanUcPeriod"/>
            </a:pPr>
            <a:r>
              <a:rPr lang="en-US" dirty="0"/>
              <a:t>Insight: You can identify countries where deaths are disproportionately high or recovery rates are significantly better, helping evaluate crisis management and public health policies.</a:t>
            </a:r>
            <a:endParaRPr lang="en-IN" dirty="0"/>
          </a:p>
        </p:txBody>
      </p:sp>
    </p:spTree>
    <p:extLst>
      <p:ext uri="{BB962C8B-B14F-4D97-AF65-F5344CB8AC3E}">
        <p14:creationId xmlns:p14="http://schemas.microsoft.com/office/powerpoint/2010/main" val="2322576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9E5D45-B7D6-7769-07A2-6D863EF554F7}"/>
              </a:ext>
            </a:extLst>
          </p:cNvPr>
          <p:cNvPicPr>
            <a:picLocks noChangeAspect="1"/>
          </p:cNvPicPr>
          <p:nvPr/>
        </p:nvPicPr>
        <p:blipFill>
          <a:blip r:embed="rId2">
            <a:extLst>
              <a:ext uri="{28A0092B-C50C-407E-A947-70E740481C1C}">
                <a14:useLocalDpi xmlns:a14="http://schemas.microsoft.com/office/drawing/2010/main" val="0"/>
              </a:ext>
            </a:extLst>
          </a:blip>
          <a:srcRect t="434"/>
          <a:stretch>
            <a:fillRect/>
          </a:stretch>
        </p:blipFill>
        <p:spPr>
          <a:xfrm>
            <a:off x="899736" y="1451113"/>
            <a:ext cx="10392528" cy="4560425"/>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A67F29A3-F26E-9FE7-13D2-7373BA89BA20}"/>
              </a:ext>
            </a:extLst>
          </p:cNvPr>
          <p:cNvSpPr txBox="1"/>
          <p:nvPr/>
        </p:nvSpPr>
        <p:spPr>
          <a:xfrm>
            <a:off x="427382" y="248478"/>
            <a:ext cx="6380923"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OVERVIEW OF EXCEL DASHBOARD</a:t>
            </a:r>
            <a:endParaRPr lang="en-IN" sz="2400" dirty="0">
              <a:latin typeface="Arial Rounded MT Bold" panose="020F0704030504030204" pitchFamily="34" charset="0"/>
            </a:endParaRPr>
          </a:p>
        </p:txBody>
      </p:sp>
    </p:spTree>
    <p:extLst>
      <p:ext uri="{BB962C8B-B14F-4D97-AF65-F5344CB8AC3E}">
        <p14:creationId xmlns:p14="http://schemas.microsoft.com/office/powerpoint/2010/main" val="1491716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96B1A6-F450-372D-5B7A-0F3C22EC4C37}"/>
              </a:ext>
            </a:extLst>
          </p:cNvPr>
          <p:cNvSpPr txBox="1"/>
          <p:nvPr/>
        </p:nvSpPr>
        <p:spPr>
          <a:xfrm>
            <a:off x="427382" y="248478"/>
            <a:ext cx="6380923"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EXPLANATION OF EXCEL DASHBOARD</a:t>
            </a:r>
            <a:endParaRPr lang="en-IN" sz="2400" dirty="0">
              <a:latin typeface="Arial Rounded MT Bold" panose="020F0704030504030204" pitchFamily="34" charset="0"/>
            </a:endParaRPr>
          </a:p>
        </p:txBody>
      </p:sp>
      <p:sp>
        <p:nvSpPr>
          <p:cNvPr id="3" name="TextBox 2">
            <a:extLst>
              <a:ext uri="{FF2B5EF4-FFF2-40B4-BE49-F238E27FC236}">
                <a16:creationId xmlns:a16="http://schemas.microsoft.com/office/drawing/2014/main" id="{0A867C53-F99C-3FDF-62E1-481B42EDE5EE}"/>
              </a:ext>
            </a:extLst>
          </p:cNvPr>
          <p:cNvSpPr txBox="1"/>
          <p:nvPr/>
        </p:nvSpPr>
        <p:spPr>
          <a:xfrm>
            <a:off x="427382" y="1228385"/>
            <a:ext cx="11258650" cy="3693319"/>
          </a:xfrm>
          <a:prstGeom prst="rect">
            <a:avLst/>
          </a:prstGeom>
          <a:noFill/>
        </p:spPr>
        <p:txBody>
          <a:bodyPr wrap="square" rtlCol="0">
            <a:spAutoFit/>
          </a:bodyPr>
          <a:lstStyle/>
          <a:p>
            <a:pPr marL="285750" indent="-285750">
              <a:buFont typeface="Wingdings" panose="05000000000000000000" pitchFamily="2" charset="2"/>
              <a:buChar char="§"/>
            </a:pPr>
            <a:r>
              <a:rPr lang="en-US" dirty="0"/>
              <a:t>This Excel dashboard presents a global analysis of COVID-19 data. It includes country-wise statistics such as confirmed cases, deaths, recoveries, and active cases, along with daily and weekly trends.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 The analysis sheet summarizes key global metrics—like total cases, death and recovery rates—and breaks them down by WHO regions. This data helps identify the most affected areas and overall pandemic trends for better decision-making and visualization.</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This Excel dashboard presents a global analysis of COVID-19 data. It includes country-wise statistics such as confirmed cases, deaths, recoveries, and active cases, along with daily and weekly trends. The analysis sheet summarizes key global metrics—like total cases, death and recovery rates—and breaks them down by WHO regions. </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This data helps identify the most affected areas and overall pandemic trends for better decision-making and visualization.</a:t>
            </a:r>
            <a:endParaRPr lang="en-IN" dirty="0"/>
          </a:p>
        </p:txBody>
      </p:sp>
    </p:spTree>
    <p:extLst>
      <p:ext uri="{BB962C8B-B14F-4D97-AF65-F5344CB8AC3E}">
        <p14:creationId xmlns:p14="http://schemas.microsoft.com/office/powerpoint/2010/main" val="2749503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89C176-867A-57B9-D999-F95EE0BA9ED8}"/>
              </a:ext>
            </a:extLst>
          </p:cNvPr>
          <p:cNvSpPr txBox="1"/>
          <p:nvPr/>
        </p:nvSpPr>
        <p:spPr>
          <a:xfrm>
            <a:off x="427382" y="248478"/>
            <a:ext cx="679637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OVERVIEW OF TABLEAU DASHBOARD</a:t>
            </a:r>
            <a:endParaRPr lang="en-IN" sz="2400" dirty="0">
              <a:latin typeface="Arial Rounded MT Bold" panose="020F0704030504030204" pitchFamily="34" charset="0"/>
            </a:endParaRPr>
          </a:p>
        </p:txBody>
      </p:sp>
      <p:pic>
        <p:nvPicPr>
          <p:cNvPr id="6" name="Picture 5">
            <a:extLst>
              <a:ext uri="{FF2B5EF4-FFF2-40B4-BE49-F238E27FC236}">
                <a16:creationId xmlns:a16="http://schemas.microsoft.com/office/drawing/2014/main" id="{371B2621-8D79-75C2-5A23-8B0197F9EB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432" y="1076792"/>
            <a:ext cx="10287135" cy="494300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1456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282476-B910-5B06-75A7-88A1A2E2103C}"/>
              </a:ext>
            </a:extLst>
          </p:cNvPr>
          <p:cNvSpPr txBox="1"/>
          <p:nvPr/>
        </p:nvSpPr>
        <p:spPr>
          <a:xfrm>
            <a:off x="427382" y="258417"/>
            <a:ext cx="679637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EXPLANATION OF TABLEAU DASHBOARD</a:t>
            </a:r>
            <a:endParaRPr lang="en-IN" sz="2400" dirty="0">
              <a:latin typeface="Arial Rounded MT Bold" panose="020F0704030504030204" pitchFamily="34" charset="0"/>
            </a:endParaRPr>
          </a:p>
        </p:txBody>
      </p:sp>
      <p:sp>
        <p:nvSpPr>
          <p:cNvPr id="4" name="TextBox 3">
            <a:extLst>
              <a:ext uri="{FF2B5EF4-FFF2-40B4-BE49-F238E27FC236}">
                <a16:creationId xmlns:a16="http://schemas.microsoft.com/office/drawing/2014/main" id="{9ECB7B47-0E62-EA82-1DB9-FFA45D6C3748}"/>
              </a:ext>
            </a:extLst>
          </p:cNvPr>
          <p:cNvSpPr txBox="1"/>
          <p:nvPr/>
        </p:nvSpPr>
        <p:spPr>
          <a:xfrm>
            <a:off x="491276" y="1570114"/>
            <a:ext cx="11209447" cy="2862322"/>
          </a:xfrm>
          <a:prstGeom prst="rect">
            <a:avLst/>
          </a:prstGeom>
          <a:noFill/>
        </p:spPr>
        <p:txBody>
          <a:bodyPr wrap="square" rtlCol="0">
            <a:spAutoFit/>
          </a:bodyPr>
          <a:lstStyle/>
          <a:p>
            <a:pPr marL="285750" indent="-285750">
              <a:buFont typeface="Wingdings" panose="05000000000000000000" pitchFamily="2" charset="2"/>
              <a:buChar char="§"/>
            </a:pPr>
            <a:r>
              <a:rPr lang="en-US" dirty="0"/>
              <a:t>The Tableau dashboard provides a visual overview of the global impact of COVID-19, focusing on key statistics like confirmed cases, deaths, recoveries, and active cases. It shows,</a:t>
            </a:r>
          </a:p>
          <a:p>
            <a:endParaRPr lang="en-US" dirty="0"/>
          </a:p>
          <a:p>
            <a:pPr marL="400050" indent="-400050">
              <a:buFont typeface="+mj-lt"/>
              <a:buAutoNum type="romanUcPeriod"/>
            </a:pPr>
            <a:r>
              <a:rPr lang="en-US" dirty="0"/>
              <a:t>Total Confirmed Cases-16.48 million,</a:t>
            </a:r>
          </a:p>
          <a:p>
            <a:pPr marL="400050" indent="-400050">
              <a:buFont typeface="+mj-lt"/>
              <a:buAutoNum type="romanUcPeriod"/>
            </a:pPr>
            <a:r>
              <a:rPr lang="en-US" dirty="0"/>
              <a:t>Total Deaths: 654,036 (Death Rate \~3.97%),</a:t>
            </a:r>
          </a:p>
          <a:p>
            <a:pPr marL="400050" indent="-400050">
              <a:buFont typeface="+mj-lt"/>
              <a:buAutoNum type="romanUcPeriod"/>
            </a:pPr>
            <a:r>
              <a:rPr lang="en-US" dirty="0"/>
              <a:t>Total Recoveries: 9.47 million (Recovery Rate \~57.45%).</a:t>
            </a:r>
          </a:p>
          <a:p>
            <a:endParaRPr lang="en-US" dirty="0"/>
          </a:p>
          <a:p>
            <a:pPr marL="285750" indent="-285750">
              <a:buFont typeface="Wingdings" panose="05000000000000000000" pitchFamily="2" charset="2"/>
              <a:buChar char="§"/>
            </a:pPr>
            <a:r>
              <a:rPr lang="en-US" dirty="0"/>
              <a:t>The dashboard also includes regional comparisons (e.g., Africa, Europe) based on recovery rates, death rates, and active case counts. It helps identify trends and regional differences, supporting better decision-making for health responses and policy planning.</a:t>
            </a:r>
            <a:endParaRPr lang="en-IN" dirty="0"/>
          </a:p>
        </p:txBody>
      </p:sp>
    </p:spTree>
    <p:extLst>
      <p:ext uri="{BB962C8B-B14F-4D97-AF65-F5344CB8AC3E}">
        <p14:creationId xmlns:p14="http://schemas.microsoft.com/office/powerpoint/2010/main" val="3755242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907D57-577B-60E1-C1D2-B930B85A42FB}"/>
              </a:ext>
            </a:extLst>
          </p:cNvPr>
          <p:cNvSpPr txBox="1"/>
          <p:nvPr/>
        </p:nvSpPr>
        <p:spPr>
          <a:xfrm>
            <a:off x="427382" y="248478"/>
            <a:ext cx="679637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Rounded MT Bold" panose="020F0704030504030204" pitchFamily="34" charset="0"/>
              </a:rPr>
              <a:t>CONCLUSION</a:t>
            </a:r>
          </a:p>
        </p:txBody>
      </p:sp>
      <p:sp>
        <p:nvSpPr>
          <p:cNvPr id="7" name="TextBox 6">
            <a:extLst>
              <a:ext uri="{FF2B5EF4-FFF2-40B4-BE49-F238E27FC236}">
                <a16:creationId xmlns:a16="http://schemas.microsoft.com/office/drawing/2014/main" id="{C9FDABF2-2A86-4A97-1058-43DBE8E31220}"/>
              </a:ext>
            </a:extLst>
          </p:cNvPr>
          <p:cNvSpPr txBox="1"/>
          <p:nvPr/>
        </p:nvSpPr>
        <p:spPr>
          <a:xfrm>
            <a:off x="554935" y="1421296"/>
            <a:ext cx="11082130" cy="2862322"/>
          </a:xfrm>
          <a:prstGeom prst="rect">
            <a:avLst/>
          </a:prstGeom>
          <a:noFill/>
        </p:spPr>
        <p:txBody>
          <a:bodyPr wrap="square" rtlCol="0">
            <a:spAutoFit/>
          </a:bodyPr>
          <a:lstStyle/>
          <a:p>
            <a:pPr marL="285750" indent="-285750">
              <a:buFont typeface="Wingdings" panose="05000000000000000000" pitchFamily="2" charset="2"/>
              <a:buChar char="§"/>
            </a:pPr>
            <a:r>
              <a:rPr lang="en-US" dirty="0"/>
              <a:t>This project provided a comprehensive analysis of global COVID-19 data using both Excel, Tableau &amp; ML. Through detailed country-wise statistics and regional comparisons, we uncovered patterns in infection rates, recovery trends, and mortality across different parts of the world. </a:t>
            </a:r>
          </a:p>
          <a:p>
            <a:endParaRPr lang="en-US" dirty="0"/>
          </a:p>
          <a:p>
            <a:pPr marL="285750" indent="-285750">
              <a:buFont typeface="Wingdings" panose="05000000000000000000" pitchFamily="2" charset="2"/>
              <a:buChar char="§"/>
            </a:pPr>
            <a:r>
              <a:rPr lang="en-US" dirty="0"/>
              <a:t>Tableau visualizations enhanced the clarity and impact of these insights, making the data more accessible and easier to interpret.</a:t>
            </a:r>
          </a:p>
          <a:p>
            <a:endParaRPr lang="en-US" dirty="0"/>
          </a:p>
          <a:p>
            <a:pPr marL="285750" indent="-285750">
              <a:buFont typeface="Wingdings" panose="05000000000000000000" pitchFamily="2" charset="2"/>
              <a:buChar char="§"/>
            </a:pPr>
            <a:r>
              <a:rPr lang="en-US" dirty="0"/>
              <a:t>By integrating data analysis with interactive dashboards, this project not only highlighted key health metrics but also demonstrated the power of visual storytelling in understanding global health crises.</a:t>
            </a:r>
          </a:p>
          <a:p>
            <a:endParaRPr lang="en-IN" dirty="0"/>
          </a:p>
        </p:txBody>
      </p:sp>
    </p:spTree>
    <p:extLst>
      <p:ext uri="{BB962C8B-B14F-4D97-AF65-F5344CB8AC3E}">
        <p14:creationId xmlns:p14="http://schemas.microsoft.com/office/powerpoint/2010/main" val="3096214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ee - Minions Presentation Theme for PowerPoint and Google Slides - PPT  Slides">
            <a:extLst>
              <a:ext uri="{FF2B5EF4-FFF2-40B4-BE49-F238E27FC236}">
                <a16:creationId xmlns:a16="http://schemas.microsoft.com/office/drawing/2014/main" id="{6BDD8D37-AC39-3B95-F561-3A5EB77CF3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2522" y="788918"/>
            <a:ext cx="9386956" cy="528016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55670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677</TotalTime>
  <Words>1123</Words>
  <Application>Microsoft Office PowerPoint</Application>
  <PresentationFormat>Widescreen</PresentationFormat>
  <Paragraphs>95</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Barlow Bold</vt:lpstr>
      <vt:lpstr>Arial</vt:lpstr>
      <vt:lpstr>Arial Black</vt:lpstr>
      <vt:lpstr>Arial Rounded MT Bold</vt:lpstr>
      <vt:lpstr>Calibri</vt:lpstr>
      <vt:lpstr>Calibri Light</vt:lpstr>
      <vt:lpstr>Montserrat</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Debabrata Behera</dc:creator>
  <cp:lastModifiedBy>Debabrata Behera</cp:lastModifiedBy>
  <cp:revision>2</cp:revision>
  <dcterms:created xsi:type="dcterms:W3CDTF">2025-06-30T02:14:24Z</dcterms:created>
  <dcterms:modified xsi:type="dcterms:W3CDTF">2025-06-30T17:50:28Z</dcterms:modified>
</cp:coreProperties>
</file>